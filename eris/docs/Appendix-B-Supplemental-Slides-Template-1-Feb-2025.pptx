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Lst>
  <p:sldSz cx="18288000" cy="10287000"/>
  <p:notesSz cx="6858000" cy="9144000"/>
  <p:embeddedFontLst>
    <p:embeddedFont>
      <p:font typeface="Aileron Bold" panose="020B0604020202020204" charset="0"/>
      <p:regular r:id="rId6"/>
    </p:embeddedFont>
    <p:embeddedFont>
      <p:font typeface="Libre Franklin" panose="020F0502020204030204" pitchFamily="2" charset="0"/>
      <p:regular r:id="rId7"/>
    </p:embeddedFont>
    <p:embeddedFont>
      <p:font typeface="Libre Franklin Bold" panose="020B0604020202020204"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300727"/>
            <a:chOff x="0" y="0"/>
            <a:chExt cx="4816593" cy="342578"/>
          </a:xfrm>
        </p:grpSpPr>
        <p:sp>
          <p:nvSpPr>
            <p:cNvPr id="3" name="Freeform 3"/>
            <p:cNvSpPr/>
            <p:nvPr/>
          </p:nvSpPr>
          <p:spPr>
            <a:xfrm>
              <a:off x="0" y="0"/>
              <a:ext cx="4816592" cy="342578"/>
            </a:xfrm>
            <a:custGeom>
              <a:avLst/>
              <a:gdLst/>
              <a:ahLst/>
              <a:cxnLst/>
              <a:rect l="l" t="t" r="r" b="b"/>
              <a:pathLst>
                <a:path w="4816592" h="342578">
                  <a:moveTo>
                    <a:pt x="0" y="0"/>
                  </a:moveTo>
                  <a:lnTo>
                    <a:pt x="4816592" y="0"/>
                  </a:lnTo>
                  <a:lnTo>
                    <a:pt x="4816592" y="342578"/>
                  </a:lnTo>
                  <a:lnTo>
                    <a:pt x="0" y="342578"/>
                  </a:lnTo>
                  <a:close/>
                </a:path>
              </a:pathLst>
            </a:custGeom>
            <a:gradFill rotWithShape="1">
              <a:gsLst>
                <a:gs pos="0">
                  <a:srgbClr val="00365D">
                    <a:alpha val="100000"/>
                  </a:srgbClr>
                </a:gs>
                <a:gs pos="100000">
                  <a:srgbClr val="001324">
                    <a:alpha val="100000"/>
                  </a:srgbClr>
                </a:gs>
              </a:gsLst>
              <a:lin ang="0"/>
            </a:gradFill>
          </p:spPr>
          <p:txBody>
            <a:bodyPr/>
            <a:lstStyle/>
            <a:p>
              <a:endParaRPr lang="en-US"/>
            </a:p>
          </p:txBody>
        </p:sp>
        <p:sp>
          <p:nvSpPr>
            <p:cNvPr id="4" name="TextBox 4"/>
            <p:cNvSpPr txBox="1"/>
            <p:nvPr/>
          </p:nvSpPr>
          <p:spPr>
            <a:xfrm>
              <a:off x="0" y="-38100"/>
              <a:ext cx="4816593" cy="38067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5400000">
            <a:off x="9017246" y="1016246"/>
            <a:ext cx="253507" cy="18288000"/>
            <a:chOff x="0" y="0"/>
            <a:chExt cx="51439" cy="3710798"/>
          </a:xfrm>
        </p:grpSpPr>
        <p:sp>
          <p:nvSpPr>
            <p:cNvPr id="6" name="Freeform 6"/>
            <p:cNvSpPr/>
            <p:nvPr/>
          </p:nvSpPr>
          <p:spPr>
            <a:xfrm>
              <a:off x="0" y="0"/>
              <a:ext cx="51439" cy="3710798"/>
            </a:xfrm>
            <a:custGeom>
              <a:avLst/>
              <a:gdLst/>
              <a:ahLst/>
              <a:cxnLst/>
              <a:rect l="l" t="t" r="r" b="b"/>
              <a:pathLst>
                <a:path w="51439" h="3710798">
                  <a:moveTo>
                    <a:pt x="0" y="0"/>
                  </a:moveTo>
                  <a:lnTo>
                    <a:pt x="51439" y="0"/>
                  </a:lnTo>
                  <a:lnTo>
                    <a:pt x="51439" y="3710798"/>
                  </a:lnTo>
                  <a:lnTo>
                    <a:pt x="0" y="3710798"/>
                  </a:lnTo>
                  <a:close/>
                </a:path>
              </a:pathLst>
            </a:custGeom>
            <a:blipFill>
              <a:blip r:embed="rId2"/>
              <a:stretch>
                <a:fillRect l="-6908733" r="-7419256"/>
              </a:stretch>
            </a:blipFill>
          </p:spPr>
          <p:txBody>
            <a:bodyPr/>
            <a:lstStyle/>
            <a:p>
              <a:endParaRPr lang="en-US"/>
            </a:p>
          </p:txBody>
        </p:sp>
      </p:grpSp>
      <p:sp>
        <p:nvSpPr>
          <p:cNvPr id="7" name="TextBox 7"/>
          <p:cNvSpPr txBox="1"/>
          <p:nvPr/>
        </p:nvSpPr>
        <p:spPr>
          <a:xfrm>
            <a:off x="1356814" y="2730245"/>
            <a:ext cx="14806222" cy="1047750"/>
          </a:xfrm>
          <a:prstGeom prst="rect">
            <a:avLst/>
          </a:prstGeom>
        </p:spPr>
        <p:txBody>
          <a:bodyPr lIns="0" tIns="0" rIns="0" bIns="0" rtlCol="0" anchor="t">
            <a:spAutoFit/>
          </a:bodyPr>
          <a:lstStyle/>
          <a:p>
            <a:pPr algn="l">
              <a:lnSpc>
                <a:spcPts val="4141"/>
              </a:lnSpc>
            </a:pPr>
            <a:r>
              <a:rPr lang="en-US" sz="3451" b="1" spc="227">
                <a:solidFill>
                  <a:srgbClr val="E05643"/>
                </a:solidFill>
                <a:latin typeface="Libre Franklin Bold"/>
                <a:ea typeface="Libre Franklin Bold"/>
                <a:cs typeface="Libre Franklin Bold"/>
                <a:sym typeface="Libre Franklin Bold"/>
              </a:rPr>
              <a:t>[ERIS Submission Title]</a:t>
            </a:r>
          </a:p>
          <a:p>
            <a:pPr algn="l">
              <a:lnSpc>
                <a:spcPts val="4141"/>
              </a:lnSpc>
            </a:pPr>
            <a:r>
              <a:rPr lang="en-US" sz="3451" spc="227">
                <a:solidFill>
                  <a:srgbClr val="E05643"/>
                </a:solidFill>
                <a:latin typeface="Libre Franklin"/>
                <a:ea typeface="Libre Franklin"/>
                <a:cs typeface="Libre Franklin"/>
                <a:sym typeface="Libre Franklin"/>
              </a:rPr>
              <a:t>[Company Name]</a:t>
            </a:r>
          </a:p>
        </p:txBody>
      </p:sp>
      <p:sp>
        <p:nvSpPr>
          <p:cNvPr id="8" name="TextBox 8"/>
          <p:cNvSpPr txBox="1"/>
          <p:nvPr/>
        </p:nvSpPr>
        <p:spPr>
          <a:xfrm>
            <a:off x="1356814" y="4231795"/>
            <a:ext cx="14806222" cy="2530698"/>
          </a:xfrm>
          <a:prstGeom prst="rect">
            <a:avLst/>
          </a:prstGeom>
        </p:spPr>
        <p:txBody>
          <a:bodyPr lIns="0" tIns="0" rIns="0" bIns="0" rtlCol="0" anchor="t">
            <a:spAutoFit/>
          </a:bodyPr>
          <a:lstStyle/>
          <a:p>
            <a:pPr marL="486037" lvl="1" indent="-243019" algn="l">
              <a:lnSpc>
                <a:spcPts val="4074"/>
              </a:lnSpc>
              <a:buFont typeface="Arial"/>
              <a:buChar char="•"/>
            </a:pPr>
            <a:r>
              <a:rPr lang="en-US" sz="2251" b="1" spc="148">
                <a:solidFill>
                  <a:srgbClr val="295D88"/>
                </a:solidFill>
                <a:latin typeface="Libre Franklin Bold"/>
                <a:ea typeface="Libre Franklin Bold"/>
                <a:cs typeface="Libre Franklin Bold"/>
                <a:sym typeface="Libre Franklin Bold"/>
              </a:rPr>
              <a:t>Address:</a:t>
            </a:r>
          </a:p>
          <a:p>
            <a:pPr marL="486037" lvl="1" indent="-243019" algn="l">
              <a:lnSpc>
                <a:spcPts val="4074"/>
              </a:lnSpc>
              <a:buFont typeface="Arial"/>
              <a:buChar char="•"/>
            </a:pPr>
            <a:r>
              <a:rPr lang="en-US" sz="2251" b="1" spc="148">
                <a:solidFill>
                  <a:srgbClr val="295D88"/>
                </a:solidFill>
                <a:latin typeface="Libre Franklin Bold"/>
                <a:ea typeface="Libre Franklin Bold"/>
                <a:cs typeface="Libre Franklin Bold"/>
                <a:sym typeface="Libre Franklin Bold"/>
              </a:rPr>
              <a:t>UEI:</a:t>
            </a:r>
          </a:p>
          <a:p>
            <a:pPr marL="486037" lvl="1" indent="-243019" algn="l">
              <a:lnSpc>
                <a:spcPts val="4074"/>
              </a:lnSpc>
              <a:buFont typeface="Arial"/>
              <a:buChar char="•"/>
            </a:pPr>
            <a:r>
              <a:rPr lang="en-US" sz="2251" b="1" spc="148">
                <a:solidFill>
                  <a:srgbClr val="295D88"/>
                </a:solidFill>
                <a:latin typeface="Libre Franklin Bold"/>
                <a:ea typeface="Libre Franklin Bold"/>
                <a:cs typeface="Libre Franklin Bold"/>
                <a:sym typeface="Libre Franklin Bold"/>
              </a:rPr>
              <a:t>POC:</a:t>
            </a:r>
          </a:p>
          <a:p>
            <a:pPr marL="486037" lvl="1" indent="-243019" algn="l">
              <a:lnSpc>
                <a:spcPts val="4074"/>
              </a:lnSpc>
              <a:buFont typeface="Arial"/>
              <a:buChar char="•"/>
            </a:pPr>
            <a:r>
              <a:rPr lang="en-US" sz="2251" b="1" spc="148">
                <a:solidFill>
                  <a:srgbClr val="295D88"/>
                </a:solidFill>
                <a:latin typeface="Libre Franklin Bold"/>
                <a:ea typeface="Libre Franklin Bold"/>
                <a:cs typeface="Libre Franklin Bold"/>
                <a:sym typeface="Libre Franklin Bold"/>
              </a:rPr>
              <a:t>Email:</a:t>
            </a:r>
          </a:p>
          <a:p>
            <a:pPr marL="486037" lvl="1" indent="-243019" algn="l">
              <a:lnSpc>
                <a:spcPts val="4074"/>
              </a:lnSpc>
              <a:buFont typeface="Arial"/>
              <a:buChar char="•"/>
            </a:pPr>
            <a:r>
              <a:rPr lang="en-US" sz="2251" b="1" spc="148">
                <a:solidFill>
                  <a:srgbClr val="295D88"/>
                </a:solidFill>
                <a:latin typeface="Libre Franklin Bold"/>
                <a:ea typeface="Libre Franklin Bold"/>
                <a:cs typeface="Libre Franklin Bold"/>
                <a:sym typeface="Libre Franklin Bold"/>
              </a:rPr>
              <a:t>Phone number:</a:t>
            </a:r>
          </a:p>
        </p:txBody>
      </p:sp>
      <p:sp>
        <p:nvSpPr>
          <p:cNvPr id="9" name="TextBox 9"/>
          <p:cNvSpPr txBox="1"/>
          <p:nvPr/>
        </p:nvSpPr>
        <p:spPr>
          <a:xfrm>
            <a:off x="1356814" y="316155"/>
            <a:ext cx="10809831" cy="712545"/>
          </a:xfrm>
          <a:prstGeom prst="rect">
            <a:avLst/>
          </a:prstGeom>
        </p:spPr>
        <p:txBody>
          <a:bodyPr lIns="0" tIns="0" rIns="0" bIns="0" rtlCol="0" anchor="t">
            <a:spAutoFit/>
          </a:bodyPr>
          <a:lstStyle/>
          <a:p>
            <a:pPr algn="l">
              <a:lnSpc>
                <a:spcPts val="5875"/>
              </a:lnSpc>
            </a:pPr>
            <a:r>
              <a:rPr lang="en-US" sz="4197" b="1" spc="-167" dirty="0">
                <a:solidFill>
                  <a:srgbClr val="E05643"/>
                </a:solidFill>
                <a:latin typeface="Libre Franklin Bold"/>
                <a:ea typeface="Libre Franklin Bold"/>
                <a:cs typeface="Libre Franklin Bold"/>
                <a:sym typeface="Libre Franklin Bold"/>
              </a:rPr>
              <a:t>ERIS SUBMISSION INFORMATION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300727"/>
            <a:chOff x="0" y="0"/>
            <a:chExt cx="4816593" cy="342578"/>
          </a:xfrm>
        </p:grpSpPr>
        <p:sp>
          <p:nvSpPr>
            <p:cNvPr id="3" name="Freeform 3"/>
            <p:cNvSpPr/>
            <p:nvPr/>
          </p:nvSpPr>
          <p:spPr>
            <a:xfrm>
              <a:off x="0" y="0"/>
              <a:ext cx="4816592" cy="342578"/>
            </a:xfrm>
            <a:custGeom>
              <a:avLst/>
              <a:gdLst/>
              <a:ahLst/>
              <a:cxnLst/>
              <a:rect l="l" t="t" r="r" b="b"/>
              <a:pathLst>
                <a:path w="4816592" h="342578">
                  <a:moveTo>
                    <a:pt x="0" y="0"/>
                  </a:moveTo>
                  <a:lnTo>
                    <a:pt x="4816592" y="0"/>
                  </a:lnTo>
                  <a:lnTo>
                    <a:pt x="4816592" y="342578"/>
                  </a:lnTo>
                  <a:lnTo>
                    <a:pt x="0" y="342578"/>
                  </a:lnTo>
                  <a:close/>
                </a:path>
              </a:pathLst>
            </a:custGeom>
            <a:gradFill rotWithShape="1">
              <a:gsLst>
                <a:gs pos="0">
                  <a:srgbClr val="00365D">
                    <a:alpha val="100000"/>
                  </a:srgbClr>
                </a:gs>
                <a:gs pos="100000">
                  <a:srgbClr val="001324">
                    <a:alpha val="100000"/>
                  </a:srgbClr>
                </a:gs>
              </a:gsLst>
              <a:lin ang="0"/>
            </a:gradFill>
          </p:spPr>
          <p:txBody>
            <a:bodyPr/>
            <a:lstStyle/>
            <a:p>
              <a:endParaRPr lang="en-US"/>
            </a:p>
          </p:txBody>
        </p:sp>
        <p:sp>
          <p:nvSpPr>
            <p:cNvPr id="4" name="TextBox 4"/>
            <p:cNvSpPr txBox="1"/>
            <p:nvPr/>
          </p:nvSpPr>
          <p:spPr>
            <a:xfrm>
              <a:off x="0" y="-38100"/>
              <a:ext cx="4816593" cy="38067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5400000">
            <a:off x="9017246" y="1016246"/>
            <a:ext cx="253507" cy="18288000"/>
            <a:chOff x="0" y="0"/>
            <a:chExt cx="51439" cy="3710798"/>
          </a:xfrm>
        </p:grpSpPr>
        <p:sp>
          <p:nvSpPr>
            <p:cNvPr id="6" name="Freeform 6"/>
            <p:cNvSpPr/>
            <p:nvPr/>
          </p:nvSpPr>
          <p:spPr>
            <a:xfrm>
              <a:off x="0" y="0"/>
              <a:ext cx="51439" cy="3710798"/>
            </a:xfrm>
            <a:custGeom>
              <a:avLst/>
              <a:gdLst/>
              <a:ahLst/>
              <a:cxnLst/>
              <a:rect l="l" t="t" r="r" b="b"/>
              <a:pathLst>
                <a:path w="51439" h="3710798">
                  <a:moveTo>
                    <a:pt x="0" y="0"/>
                  </a:moveTo>
                  <a:lnTo>
                    <a:pt x="51439" y="0"/>
                  </a:lnTo>
                  <a:lnTo>
                    <a:pt x="51439" y="3710798"/>
                  </a:lnTo>
                  <a:lnTo>
                    <a:pt x="0" y="3710798"/>
                  </a:lnTo>
                  <a:close/>
                </a:path>
              </a:pathLst>
            </a:custGeom>
            <a:blipFill>
              <a:blip r:embed="rId2"/>
              <a:stretch>
                <a:fillRect l="-6908733" r="-7419256"/>
              </a:stretch>
            </a:blipFill>
          </p:spPr>
          <p:txBody>
            <a:bodyPr/>
            <a:lstStyle/>
            <a:p>
              <a:endParaRPr lang="en-US"/>
            </a:p>
          </p:txBody>
        </p:sp>
      </p:grpSp>
      <p:sp>
        <p:nvSpPr>
          <p:cNvPr id="7" name="TextBox 7"/>
          <p:cNvSpPr txBox="1"/>
          <p:nvPr/>
        </p:nvSpPr>
        <p:spPr>
          <a:xfrm>
            <a:off x="578394" y="256002"/>
            <a:ext cx="10809831" cy="712523"/>
          </a:xfrm>
          <a:prstGeom prst="rect">
            <a:avLst/>
          </a:prstGeom>
        </p:spPr>
        <p:txBody>
          <a:bodyPr lIns="0" tIns="0" rIns="0" bIns="0" rtlCol="0" anchor="t">
            <a:spAutoFit/>
          </a:bodyPr>
          <a:lstStyle/>
          <a:p>
            <a:pPr algn="l">
              <a:lnSpc>
                <a:spcPts val="5875"/>
              </a:lnSpc>
            </a:pPr>
            <a:r>
              <a:rPr lang="en-US" sz="4197" b="1" spc="-167">
                <a:solidFill>
                  <a:srgbClr val="E05643"/>
                </a:solidFill>
                <a:latin typeface="Libre Franklin Bold"/>
                <a:ea typeface="Libre Franklin Bold"/>
                <a:cs typeface="Libre Franklin Bold"/>
                <a:sym typeface="Libre Franklin Bold"/>
              </a:rPr>
              <a:t>COMPANY INTRODUCTION</a:t>
            </a:r>
          </a:p>
        </p:txBody>
      </p:sp>
      <p:sp>
        <p:nvSpPr>
          <p:cNvPr id="8" name="TextBox 8"/>
          <p:cNvSpPr txBox="1"/>
          <p:nvPr/>
        </p:nvSpPr>
        <p:spPr>
          <a:xfrm>
            <a:off x="578394" y="1789029"/>
            <a:ext cx="14806222" cy="400072"/>
          </a:xfrm>
          <a:prstGeom prst="rect">
            <a:avLst/>
          </a:prstGeom>
        </p:spPr>
        <p:txBody>
          <a:bodyPr lIns="0" tIns="0" rIns="0" bIns="0" rtlCol="0" anchor="t">
            <a:spAutoFit/>
          </a:bodyPr>
          <a:lstStyle/>
          <a:p>
            <a:pPr algn="l">
              <a:lnSpc>
                <a:spcPts val="3181"/>
              </a:lnSpc>
            </a:pPr>
            <a:r>
              <a:rPr lang="en-US" sz="2651" b="1" spc="174">
                <a:solidFill>
                  <a:srgbClr val="295D88"/>
                </a:solidFill>
                <a:latin typeface="Libre Franklin Bold"/>
                <a:ea typeface="Libre Franklin Bold"/>
                <a:cs typeface="Libre Franklin Bold"/>
                <a:sym typeface="Libre Franklin Bold"/>
              </a:rPr>
              <a:t>[One chart company overview to introduce you to DARPA and the DoD]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300727"/>
            <a:chOff x="0" y="0"/>
            <a:chExt cx="4816593" cy="342578"/>
          </a:xfrm>
        </p:grpSpPr>
        <p:sp>
          <p:nvSpPr>
            <p:cNvPr id="3" name="Freeform 3"/>
            <p:cNvSpPr/>
            <p:nvPr/>
          </p:nvSpPr>
          <p:spPr>
            <a:xfrm>
              <a:off x="0" y="0"/>
              <a:ext cx="4816592" cy="342578"/>
            </a:xfrm>
            <a:custGeom>
              <a:avLst/>
              <a:gdLst/>
              <a:ahLst/>
              <a:cxnLst/>
              <a:rect l="l" t="t" r="r" b="b"/>
              <a:pathLst>
                <a:path w="4816592" h="342578">
                  <a:moveTo>
                    <a:pt x="0" y="0"/>
                  </a:moveTo>
                  <a:lnTo>
                    <a:pt x="4816592" y="0"/>
                  </a:lnTo>
                  <a:lnTo>
                    <a:pt x="4816592" y="342578"/>
                  </a:lnTo>
                  <a:lnTo>
                    <a:pt x="0" y="342578"/>
                  </a:lnTo>
                  <a:close/>
                </a:path>
              </a:pathLst>
            </a:custGeom>
            <a:gradFill rotWithShape="1">
              <a:gsLst>
                <a:gs pos="0">
                  <a:srgbClr val="00365D">
                    <a:alpha val="100000"/>
                  </a:srgbClr>
                </a:gs>
                <a:gs pos="100000">
                  <a:srgbClr val="001324">
                    <a:alpha val="100000"/>
                  </a:srgbClr>
                </a:gs>
              </a:gsLst>
              <a:lin ang="0"/>
            </a:gradFill>
          </p:spPr>
          <p:txBody>
            <a:bodyPr/>
            <a:lstStyle/>
            <a:p>
              <a:endParaRPr lang="en-US"/>
            </a:p>
          </p:txBody>
        </p:sp>
        <p:sp>
          <p:nvSpPr>
            <p:cNvPr id="4" name="TextBox 4"/>
            <p:cNvSpPr txBox="1"/>
            <p:nvPr/>
          </p:nvSpPr>
          <p:spPr>
            <a:xfrm>
              <a:off x="0" y="-38100"/>
              <a:ext cx="4816593" cy="38067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5400000">
            <a:off x="9017246" y="1016246"/>
            <a:ext cx="253507" cy="18288000"/>
            <a:chOff x="0" y="0"/>
            <a:chExt cx="51439" cy="3710798"/>
          </a:xfrm>
        </p:grpSpPr>
        <p:sp>
          <p:nvSpPr>
            <p:cNvPr id="6" name="Freeform 6"/>
            <p:cNvSpPr/>
            <p:nvPr/>
          </p:nvSpPr>
          <p:spPr>
            <a:xfrm>
              <a:off x="0" y="0"/>
              <a:ext cx="51439" cy="3710798"/>
            </a:xfrm>
            <a:custGeom>
              <a:avLst/>
              <a:gdLst/>
              <a:ahLst/>
              <a:cxnLst/>
              <a:rect l="l" t="t" r="r" b="b"/>
              <a:pathLst>
                <a:path w="51439" h="3710798">
                  <a:moveTo>
                    <a:pt x="0" y="0"/>
                  </a:moveTo>
                  <a:lnTo>
                    <a:pt x="51439" y="0"/>
                  </a:lnTo>
                  <a:lnTo>
                    <a:pt x="51439" y="3710798"/>
                  </a:lnTo>
                  <a:lnTo>
                    <a:pt x="0" y="3710798"/>
                  </a:lnTo>
                  <a:close/>
                </a:path>
              </a:pathLst>
            </a:custGeom>
            <a:blipFill>
              <a:blip r:embed="rId2"/>
              <a:stretch>
                <a:fillRect l="-6908733" r="-7419256"/>
              </a:stretch>
            </a:blipFill>
          </p:spPr>
          <p:txBody>
            <a:bodyPr/>
            <a:lstStyle/>
            <a:p>
              <a:endParaRPr lang="en-US"/>
            </a:p>
          </p:txBody>
        </p:sp>
      </p:grpSp>
      <p:grpSp>
        <p:nvGrpSpPr>
          <p:cNvPr id="7" name="Group 7"/>
          <p:cNvGrpSpPr/>
          <p:nvPr/>
        </p:nvGrpSpPr>
        <p:grpSpPr>
          <a:xfrm>
            <a:off x="2672236" y="1972815"/>
            <a:ext cx="5962713" cy="3389246"/>
            <a:chOff x="0" y="0"/>
            <a:chExt cx="1429962" cy="812800"/>
          </a:xfrm>
        </p:grpSpPr>
        <p:sp>
          <p:nvSpPr>
            <p:cNvPr id="8" name="Freeform 8"/>
            <p:cNvSpPr/>
            <p:nvPr/>
          </p:nvSpPr>
          <p:spPr>
            <a:xfrm>
              <a:off x="0" y="0"/>
              <a:ext cx="1429962" cy="812800"/>
            </a:xfrm>
            <a:custGeom>
              <a:avLst/>
              <a:gdLst/>
              <a:ahLst/>
              <a:cxnLst/>
              <a:rect l="l" t="t" r="r" b="b"/>
              <a:pathLst>
                <a:path w="1429962" h="812800">
                  <a:moveTo>
                    <a:pt x="0" y="0"/>
                  </a:moveTo>
                  <a:lnTo>
                    <a:pt x="1429962" y="0"/>
                  </a:lnTo>
                  <a:lnTo>
                    <a:pt x="1429962" y="812800"/>
                  </a:lnTo>
                  <a:lnTo>
                    <a:pt x="0" y="812800"/>
                  </a:lnTo>
                  <a:close/>
                </a:path>
              </a:pathLst>
            </a:custGeom>
            <a:solidFill>
              <a:srgbClr val="295D88"/>
            </a:solidFill>
          </p:spPr>
          <p:txBody>
            <a:bodyPr/>
            <a:lstStyle/>
            <a:p>
              <a:endParaRPr lang="en-US"/>
            </a:p>
          </p:txBody>
        </p:sp>
        <p:sp>
          <p:nvSpPr>
            <p:cNvPr id="9" name="TextBox 9"/>
            <p:cNvSpPr txBox="1"/>
            <p:nvPr/>
          </p:nvSpPr>
          <p:spPr>
            <a:xfrm>
              <a:off x="0" y="-133350"/>
              <a:ext cx="1429962" cy="946150"/>
            </a:xfrm>
            <a:prstGeom prst="rect">
              <a:avLst/>
            </a:prstGeom>
          </p:spPr>
          <p:txBody>
            <a:bodyPr lIns="50800" tIns="50800" rIns="50800" bIns="50800" rtlCol="0" anchor="ctr"/>
            <a:lstStyle/>
            <a:p>
              <a:pPr algn="ctr">
                <a:lnSpc>
                  <a:spcPts val="4074"/>
                </a:lnSpc>
              </a:pPr>
              <a:endParaRPr/>
            </a:p>
          </p:txBody>
        </p:sp>
      </p:grpSp>
      <p:grpSp>
        <p:nvGrpSpPr>
          <p:cNvPr id="10" name="Group 10"/>
          <p:cNvGrpSpPr/>
          <p:nvPr/>
        </p:nvGrpSpPr>
        <p:grpSpPr>
          <a:xfrm>
            <a:off x="9282582" y="1972815"/>
            <a:ext cx="5962713" cy="3389246"/>
            <a:chOff x="0" y="0"/>
            <a:chExt cx="1429962" cy="812800"/>
          </a:xfrm>
        </p:grpSpPr>
        <p:sp>
          <p:nvSpPr>
            <p:cNvPr id="11" name="Freeform 11"/>
            <p:cNvSpPr/>
            <p:nvPr/>
          </p:nvSpPr>
          <p:spPr>
            <a:xfrm>
              <a:off x="0" y="0"/>
              <a:ext cx="1429962" cy="812800"/>
            </a:xfrm>
            <a:custGeom>
              <a:avLst/>
              <a:gdLst/>
              <a:ahLst/>
              <a:cxnLst/>
              <a:rect l="l" t="t" r="r" b="b"/>
              <a:pathLst>
                <a:path w="1429962" h="812800">
                  <a:moveTo>
                    <a:pt x="0" y="0"/>
                  </a:moveTo>
                  <a:lnTo>
                    <a:pt x="1429962" y="0"/>
                  </a:lnTo>
                  <a:lnTo>
                    <a:pt x="1429962" y="812800"/>
                  </a:lnTo>
                  <a:lnTo>
                    <a:pt x="0" y="812800"/>
                  </a:lnTo>
                  <a:close/>
                </a:path>
              </a:pathLst>
            </a:custGeom>
            <a:solidFill>
              <a:srgbClr val="295D88"/>
            </a:solidFill>
          </p:spPr>
          <p:txBody>
            <a:bodyPr/>
            <a:lstStyle/>
            <a:p>
              <a:endParaRPr lang="en-US"/>
            </a:p>
          </p:txBody>
        </p:sp>
        <p:sp>
          <p:nvSpPr>
            <p:cNvPr id="12" name="TextBox 12"/>
            <p:cNvSpPr txBox="1"/>
            <p:nvPr/>
          </p:nvSpPr>
          <p:spPr>
            <a:xfrm>
              <a:off x="0" y="-133350"/>
              <a:ext cx="1429962" cy="946150"/>
            </a:xfrm>
            <a:prstGeom prst="rect">
              <a:avLst/>
            </a:prstGeom>
          </p:spPr>
          <p:txBody>
            <a:bodyPr lIns="50800" tIns="50800" rIns="50800" bIns="50800" rtlCol="0" anchor="ctr"/>
            <a:lstStyle/>
            <a:p>
              <a:pPr algn="ctr">
                <a:lnSpc>
                  <a:spcPts val="4074"/>
                </a:lnSpc>
              </a:pPr>
              <a:endParaRPr/>
            </a:p>
          </p:txBody>
        </p:sp>
      </p:grpSp>
      <p:grpSp>
        <p:nvGrpSpPr>
          <p:cNvPr id="13" name="Group 13"/>
          <p:cNvGrpSpPr/>
          <p:nvPr/>
        </p:nvGrpSpPr>
        <p:grpSpPr>
          <a:xfrm>
            <a:off x="2672236" y="5940997"/>
            <a:ext cx="5962713" cy="3389246"/>
            <a:chOff x="0" y="0"/>
            <a:chExt cx="1429962" cy="812800"/>
          </a:xfrm>
        </p:grpSpPr>
        <p:sp>
          <p:nvSpPr>
            <p:cNvPr id="14" name="Freeform 14"/>
            <p:cNvSpPr/>
            <p:nvPr/>
          </p:nvSpPr>
          <p:spPr>
            <a:xfrm>
              <a:off x="0" y="0"/>
              <a:ext cx="1429962" cy="812800"/>
            </a:xfrm>
            <a:custGeom>
              <a:avLst/>
              <a:gdLst/>
              <a:ahLst/>
              <a:cxnLst/>
              <a:rect l="l" t="t" r="r" b="b"/>
              <a:pathLst>
                <a:path w="1429962" h="812800">
                  <a:moveTo>
                    <a:pt x="0" y="0"/>
                  </a:moveTo>
                  <a:lnTo>
                    <a:pt x="1429962" y="0"/>
                  </a:lnTo>
                  <a:lnTo>
                    <a:pt x="1429962" y="812800"/>
                  </a:lnTo>
                  <a:lnTo>
                    <a:pt x="0" y="812800"/>
                  </a:lnTo>
                  <a:close/>
                </a:path>
              </a:pathLst>
            </a:custGeom>
            <a:solidFill>
              <a:srgbClr val="295D88"/>
            </a:solidFill>
          </p:spPr>
          <p:txBody>
            <a:bodyPr/>
            <a:lstStyle/>
            <a:p>
              <a:endParaRPr lang="en-US"/>
            </a:p>
          </p:txBody>
        </p:sp>
        <p:sp>
          <p:nvSpPr>
            <p:cNvPr id="15" name="TextBox 15"/>
            <p:cNvSpPr txBox="1"/>
            <p:nvPr/>
          </p:nvSpPr>
          <p:spPr>
            <a:xfrm>
              <a:off x="0" y="-133350"/>
              <a:ext cx="1429962" cy="946150"/>
            </a:xfrm>
            <a:prstGeom prst="rect">
              <a:avLst/>
            </a:prstGeom>
          </p:spPr>
          <p:txBody>
            <a:bodyPr lIns="50800" tIns="50800" rIns="50800" bIns="50800" rtlCol="0" anchor="ctr"/>
            <a:lstStyle/>
            <a:p>
              <a:pPr algn="ctr">
                <a:lnSpc>
                  <a:spcPts val="4074"/>
                </a:lnSpc>
              </a:pPr>
              <a:endParaRPr/>
            </a:p>
          </p:txBody>
        </p:sp>
      </p:grpSp>
      <p:grpSp>
        <p:nvGrpSpPr>
          <p:cNvPr id="16" name="Group 16"/>
          <p:cNvGrpSpPr/>
          <p:nvPr/>
        </p:nvGrpSpPr>
        <p:grpSpPr>
          <a:xfrm>
            <a:off x="9282582" y="5940997"/>
            <a:ext cx="5962713" cy="3389246"/>
            <a:chOff x="0" y="0"/>
            <a:chExt cx="1429962" cy="812800"/>
          </a:xfrm>
        </p:grpSpPr>
        <p:sp>
          <p:nvSpPr>
            <p:cNvPr id="17" name="Freeform 17"/>
            <p:cNvSpPr/>
            <p:nvPr/>
          </p:nvSpPr>
          <p:spPr>
            <a:xfrm>
              <a:off x="0" y="0"/>
              <a:ext cx="1429962" cy="812800"/>
            </a:xfrm>
            <a:custGeom>
              <a:avLst/>
              <a:gdLst/>
              <a:ahLst/>
              <a:cxnLst/>
              <a:rect l="l" t="t" r="r" b="b"/>
              <a:pathLst>
                <a:path w="1429962" h="812800">
                  <a:moveTo>
                    <a:pt x="0" y="0"/>
                  </a:moveTo>
                  <a:lnTo>
                    <a:pt x="1429962" y="0"/>
                  </a:lnTo>
                  <a:lnTo>
                    <a:pt x="1429962" y="812800"/>
                  </a:lnTo>
                  <a:lnTo>
                    <a:pt x="0" y="812800"/>
                  </a:lnTo>
                  <a:close/>
                </a:path>
              </a:pathLst>
            </a:custGeom>
            <a:solidFill>
              <a:srgbClr val="295D88"/>
            </a:solidFill>
          </p:spPr>
          <p:txBody>
            <a:bodyPr/>
            <a:lstStyle/>
            <a:p>
              <a:endParaRPr lang="en-US"/>
            </a:p>
          </p:txBody>
        </p:sp>
        <p:sp>
          <p:nvSpPr>
            <p:cNvPr id="18" name="TextBox 18"/>
            <p:cNvSpPr txBox="1"/>
            <p:nvPr/>
          </p:nvSpPr>
          <p:spPr>
            <a:xfrm>
              <a:off x="0" y="-133350"/>
              <a:ext cx="1429962" cy="946150"/>
            </a:xfrm>
            <a:prstGeom prst="rect">
              <a:avLst/>
            </a:prstGeom>
          </p:spPr>
          <p:txBody>
            <a:bodyPr lIns="50800" tIns="50800" rIns="50800" bIns="50800" rtlCol="0" anchor="ctr"/>
            <a:lstStyle/>
            <a:p>
              <a:pPr algn="ctr">
                <a:lnSpc>
                  <a:spcPts val="4074"/>
                </a:lnSpc>
              </a:pPr>
              <a:endParaRPr/>
            </a:p>
          </p:txBody>
        </p:sp>
      </p:grpSp>
      <p:sp>
        <p:nvSpPr>
          <p:cNvPr id="19" name="Freeform 19"/>
          <p:cNvSpPr/>
          <p:nvPr/>
        </p:nvSpPr>
        <p:spPr>
          <a:xfrm>
            <a:off x="1707914" y="5274323"/>
            <a:ext cx="14488096" cy="796845"/>
          </a:xfrm>
          <a:custGeom>
            <a:avLst/>
            <a:gdLst/>
            <a:ahLst/>
            <a:cxnLst/>
            <a:rect l="l" t="t" r="r" b="b"/>
            <a:pathLst>
              <a:path w="14488096" h="796845">
                <a:moveTo>
                  <a:pt x="0" y="0"/>
                </a:moveTo>
                <a:lnTo>
                  <a:pt x="14488096" y="0"/>
                </a:lnTo>
                <a:lnTo>
                  <a:pt x="14488096" y="796845"/>
                </a:lnTo>
                <a:lnTo>
                  <a:pt x="0" y="7968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Freeform 20"/>
          <p:cNvSpPr/>
          <p:nvPr/>
        </p:nvSpPr>
        <p:spPr>
          <a:xfrm rot="-5400000">
            <a:off x="4843690" y="5440781"/>
            <a:ext cx="8230151" cy="452658"/>
          </a:xfrm>
          <a:custGeom>
            <a:avLst/>
            <a:gdLst/>
            <a:ahLst/>
            <a:cxnLst/>
            <a:rect l="l" t="t" r="r" b="b"/>
            <a:pathLst>
              <a:path w="8230151" h="452658">
                <a:moveTo>
                  <a:pt x="0" y="0"/>
                </a:moveTo>
                <a:lnTo>
                  <a:pt x="8230151" y="0"/>
                </a:lnTo>
                <a:lnTo>
                  <a:pt x="8230151" y="452658"/>
                </a:lnTo>
                <a:lnTo>
                  <a:pt x="0" y="4526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TextBox 21"/>
          <p:cNvSpPr txBox="1"/>
          <p:nvPr/>
        </p:nvSpPr>
        <p:spPr>
          <a:xfrm>
            <a:off x="578394" y="256002"/>
            <a:ext cx="10809831" cy="712545"/>
          </a:xfrm>
          <a:prstGeom prst="rect">
            <a:avLst/>
          </a:prstGeom>
        </p:spPr>
        <p:txBody>
          <a:bodyPr lIns="0" tIns="0" rIns="0" bIns="0" rtlCol="0" anchor="t">
            <a:spAutoFit/>
          </a:bodyPr>
          <a:lstStyle/>
          <a:p>
            <a:pPr algn="l">
              <a:lnSpc>
                <a:spcPts val="5875"/>
              </a:lnSpc>
            </a:pPr>
            <a:r>
              <a:rPr lang="en-US" sz="4197" b="1" spc="-167">
                <a:solidFill>
                  <a:srgbClr val="E05643"/>
                </a:solidFill>
                <a:latin typeface="Libre Franklin Bold"/>
                <a:ea typeface="Libre Franklin Bold"/>
                <a:cs typeface="Libre Franklin Bold"/>
                <a:sym typeface="Libre Franklin Bold"/>
              </a:rPr>
              <a:t>ERIS SUBMISSION CRITERIA QUAD CHART</a:t>
            </a:r>
          </a:p>
        </p:txBody>
      </p:sp>
      <p:sp>
        <p:nvSpPr>
          <p:cNvPr id="22" name="TextBox 22"/>
          <p:cNvSpPr txBox="1"/>
          <p:nvPr/>
        </p:nvSpPr>
        <p:spPr>
          <a:xfrm>
            <a:off x="3139621" y="2428948"/>
            <a:ext cx="5154820" cy="674591"/>
          </a:xfrm>
          <a:prstGeom prst="rect">
            <a:avLst/>
          </a:prstGeom>
        </p:spPr>
        <p:txBody>
          <a:bodyPr lIns="0" tIns="0" rIns="0" bIns="0" rtlCol="0" anchor="t">
            <a:spAutoFit/>
          </a:bodyPr>
          <a:lstStyle/>
          <a:p>
            <a:pPr algn="ctr">
              <a:lnSpc>
                <a:spcPts val="2742"/>
              </a:lnSpc>
            </a:pPr>
            <a:r>
              <a:rPr lang="en-US" sz="2046" b="1" spc="135">
                <a:solidFill>
                  <a:srgbClr val="FFFFFF"/>
                </a:solidFill>
                <a:latin typeface="Libre Franklin Bold"/>
                <a:ea typeface="Libre Franklin Bold"/>
                <a:cs typeface="Libre Franklin Bold"/>
                <a:sym typeface="Libre Franklin Bold"/>
              </a:rPr>
              <a:t>Defining the Problem &amp; Current State of the Art</a:t>
            </a:r>
          </a:p>
        </p:txBody>
      </p:sp>
      <p:sp>
        <p:nvSpPr>
          <p:cNvPr id="23" name="TextBox 23"/>
          <p:cNvSpPr txBox="1"/>
          <p:nvPr/>
        </p:nvSpPr>
        <p:spPr>
          <a:xfrm>
            <a:off x="3139621" y="3347928"/>
            <a:ext cx="5154820" cy="1474014"/>
          </a:xfrm>
          <a:prstGeom prst="rect">
            <a:avLst/>
          </a:prstGeom>
        </p:spPr>
        <p:txBody>
          <a:bodyPr lIns="0" tIns="0" rIns="0" bIns="0" rtlCol="0" anchor="t">
            <a:spAutoFit/>
          </a:bodyPr>
          <a:lstStyle/>
          <a:p>
            <a:pPr algn="l">
              <a:lnSpc>
                <a:spcPts val="2331"/>
              </a:lnSpc>
            </a:pPr>
            <a:r>
              <a:rPr lang="en-US" sz="1739" spc="114">
                <a:solidFill>
                  <a:srgbClr val="FFFFFF"/>
                </a:solidFill>
                <a:latin typeface="Libre Franklin"/>
                <a:ea typeface="Libre Franklin"/>
                <a:cs typeface="Libre Franklin"/>
                <a:sym typeface="Libre Franklin"/>
              </a:rPr>
              <a:t>Clearly and comprehensively define </a:t>
            </a:r>
            <a:r>
              <a:rPr lang="en-US" sz="1739" b="1" spc="114">
                <a:solidFill>
                  <a:srgbClr val="FFFFFF"/>
                </a:solidFill>
                <a:latin typeface="Libre Franklin Bold"/>
                <a:ea typeface="Libre Franklin Bold"/>
                <a:cs typeface="Libre Franklin Bold"/>
                <a:sym typeface="Libre Franklin Bold"/>
              </a:rPr>
              <a:t>(1)</a:t>
            </a:r>
            <a:r>
              <a:rPr lang="en-US" sz="1739" spc="114">
                <a:solidFill>
                  <a:srgbClr val="FFFFFF"/>
                </a:solidFill>
                <a:latin typeface="Libre Franklin"/>
                <a:ea typeface="Libre Franklin"/>
                <a:cs typeface="Libre Franklin"/>
                <a:sym typeface="Libre Franklin"/>
              </a:rPr>
              <a:t> the scope of the problem(s) that the solution is/will be developed to address and</a:t>
            </a:r>
            <a:r>
              <a:rPr lang="en-US" sz="1739" b="1" spc="114">
                <a:solidFill>
                  <a:srgbClr val="FFFFFF"/>
                </a:solidFill>
                <a:latin typeface="Libre Franklin Bold"/>
                <a:ea typeface="Libre Franklin Bold"/>
                <a:cs typeface="Libre Franklin Bold"/>
                <a:sym typeface="Libre Franklin Bold"/>
              </a:rPr>
              <a:t> (2)</a:t>
            </a:r>
            <a:r>
              <a:rPr lang="en-US" sz="1739" spc="114">
                <a:solidFill>
                  <a:srgbClr val="FFFFFF"/>
                </a:solidFill>
                <a:latin typeface="Libre Franklin"/>
                <a:ea typeface="Libre Franklin"/>
                <a:cs typeface="Libre Franklin"/>
                <a:sym typeface="Libre Franklin"/>
              </a:rPr>
              <a:t> the current state of the art within the field of potential solutions for the problem defined. </a:t>
            </a:r>
          </a:p>
        </p:txBody>
      </p:sp>
      <p:sp>
        <p:nvSpPr>
          <p:cNvPr id="24" name="TextBox 24"/>
          <p:cNvSpPr txBox="1"/>
          <p:nvPr/>
        </p:nvSpPr>
        <p:spPr>
          <a:xfrm>
            <a:off x="9686528" y="2428948"/>
            <a:ext cx="5154820" cy="333385"/>
          </a:xfrm>
          <a:prstGeom prst="rect">
            <a:avLst/>
          </a:prstGeom>
        </p:spPr>
        <p:txBody>
          <a:bodyPr lIns="0" tIns="0" rIns="0" bIns="0" rtlCol="0" anchor="t">
            <a:spAutoFit/>
          </a:bodyPr>
          <a:lstStyle/>
          <a:p>
            <a:pPr algn="ctr">
              <a:lnSpc>
                <a:spcPts val="2742"/>
              </a:lnSpc>
            </a:pPr>
            <a:r>
              <a:rPr lang="en-US" sz="2046" b="1" spc="135">
                <a:solidFill>
                  <a:srgbClr val="FFFFFF"/>
                </a:solidFill>
                <a:latin typeface="Libre Franklin Bold"/>
                <a:ea typeface="Libre Franklin Bold"/>
                <a:cs typeface="Libre Franklin Bold"/>
                <a:sym typeface="Libre Franklin Bold"/>
              </a:rPr>
              <a:t>Advancing the State of the Art</a:t>
            </a:r>
          </a:p>
        </p:txBody>
      </p:sp>
      <p:sp>
        <p:nvSpPr>
          <p:cNvPr id="25" name="TextBox 25"/>
          <p:cNvSpPr txBox="1"/>
          <p:nvPr/>
        </p:nvSpPr>
        <p:spPr>
          <a:xfrm>
            <a:off x="9686528" y="3084712"/>
            <a:ext cx="5154820" cy="2029014"/>
          </a:xfrm>
          <a:prstGeom prst="rect">
            <a:avLst/>
          </a:prstGeom>
        </p:spPr>
        <p:txBody>
          <a:bodyPr lIns="0" tIns="0" rIns="0" bIns="0" rtlCol="0" anchor="t">
            <a:spAutoFit/>
          </a:bodyPr>
          <a:lstStyle/>
          <a:p>
            <a:pPr algn="l">
              <a:lnSpc>
                <a:spcPts val="2057"/>
              </a:lnSpc>
            </a:pPr>
            <a:r>
              <a:rPr lang="en-US" sz="1535" spc="101">
                <a:solidFill>
                  <a:srgbClr val="FFFFFF"/>
                </a:solidFill>
                <a:latin typeface="Libre Franklin"/>
                <a:ea typeface="Libre Franklin"/>
                <a:cs typeface="Libre Franklin"/>
                <a:sym typeface="Libre Franklin"/>
              </a:rPr>
              <a:t>Detail why the proposed solution, if successful, will advance the current state of the art within the solution's relevant field(s). How is the problem being addressed today? What is "new" within your approach as it compares to current practices? What barriers do you foresee when attempting to advance the state of the art?</a:t>
            </a:r>
          </a:p>
          <a:p>
            <a:pPr algn="l">
              <a:lnSpc>
                <a:spcPts val="2057"/>
              </a:lnSpc>
            </a:pPr>
            <a:endParaRPr lang="en-US" sz="1535" spc="101">
              <a:solidFill>
                <a:srgbClr val="FFFFFF"/>
              </a:solidFill>
              <a:latin typeface="Libre Franklin"/>
              <a:ea typeface="Libre Franklin"/>
              <a:cs typeface="Libre Franklin"/>
              <a:sym typeface="Libre Franklin"/>
            </a:endParaRPr>
          </a:p>
        </p:txBody>
      </p:sp>
      <p:sp>
        <p:nvSpPr>
          <p:cNvPr id="26" name="TextBox 26"/>
          <p:cNvSpPr txBox="1"/>
          <p:nvPr/>
        </p:nvSpPr>
        <p:spPr>
          <a:xfrm>
            <a:off x="3076182" y="6262009"/>
            <a:ext cx="5154820" cy="674591"/>
          </a:xfrm>
          <a:prstGeom prst="rect">
            <a:avLst/>
          </a:prstGeom>
        </p:spPr>
        <p:txBody>
          <a:bodyPr lIns="0" tIns="0" rIns="0" bIns="0" rtlCol="0" anchor="t">
            <a:spAutoFit/>
          </a:bodyPr>
          <a:lstStyle/>
          <a:p>
            <a:pPr algn="ctr">
              <a:lnSpc>
                <a:spcPts val="2742"/>
              </a:lnSpc>
            </a:pPr>
            <a:r>
              <a:rPr lang="en-US" sz="2046" b="1" spc="135">
                <a:solidFill>
                  <a:srgbClr val="FFFFFF"/>
                </a:solidFill>
                <a:latin typeface="Libre Franklin Bold"/>
                <a:ea typeface="Libre Franklin Bold"/>
                <a:cs typeface="Libre Franklin Bold"/>
                <a:sym typeface="Libre Franklin Bold"/>
              </a:rPr>
              <a:t>Team Capability (Key Personnel Vision, Expertise, and Experience)</a:t>
            </a:r>
          </a:p>
        </p:txBody>
      </p:sp>
      <p:sp>
        <p:nvSpPr>
          <p:cNvPr id="27" name="TextBox 27"/>
          <p:cNvSpPr txBox="1"/>
          <p:nvPr/>
        </p:nvSpPr>
        <p:spPr>
          <a:xfrm>
            <a:off x="3139621" y="7190514"/>
            <a:ext cx="5154820" cy="2099845"/>
          </a:xfrm>
          <a:prstGeom prst="rect">
            <a:avLst/>
          </a:prstGeom>
        </p:spPr>
        <p:txBody>
          <a:bodyPr lIns="0" tIns="0" rIns="0" bIns="0" rtlCol="0" anchor="t">
            <a:spAutoFit/>
          </a:bodyPr>
          <a:lstStyle/>
          <a:p>
            <a:pPr algn="l">
              <a:lnSpc>
                <a:spcPts val="1878"/>
              </a:lnSpc>
            </a:pPr>
            <a:r>
              <a:rPr lang="en-US" sz="1402" spc="92">
                <a:solidFill>
                  <a:srgbClr val="FFFFFF"/>
                </a:solidFill>
                <a:latin typeface="Libre Franklin"/>
                <a:ea typeface="Libre Franklin"/>
                <a:cs typeface="Libre Franklin"/>
                <a:sym typeface="Libre Franklin"/>
              </a:rPr>
              <a:t>Clearly demonstrate that your team has the capability to drive the proposed project to a successful outcome based on your proposed team's unique vision, expertise, and experience. There are a ton of great teams/people operating within your field; why is your team the best and why do they have the "it” factor when it comes to successfully completing the proposed project/solution?</a:t>
            </a:r>
          </a:p>
          <a:p>
            <a:pPr algn="l">
              <a:lnSpc>
                <a:spcPts val="1878"/>
              </a:lnSpc>
            </a:pPr>
            <a:endParaRPr lang="en-US" sz="1402" spc="92">
              <a:solidFill>
                <a:srgbClr val="FFFFFF"/>
              </a:solidFill>
              <a:latin typeface="Libre Franklin"/>
              <a:ea typeface="Libre Franklin"/>
              <a:cs typeface="Libre Franklin"/>
              <a:sym typeface="Libre Franklin"/>
            </a:endParaRPr>
          </a:p>
        </p:txBody>
      </p:sp>
      <p:sp>
        <p:nvSpPr>
          <p:cNvPr id="28" name="TextBox 28"/>
          <p:cNvSpPr txBox="1"/>
          <p:nvPr/>
        </p:nvSpPr>
        <p:spPr>
          <a:xfrm>
            <a:off x="9686528" y="6198572"/>
            <a:ext cx="5154820" cy="674591"/>
          </a:xfrm>
          <a:prstGeom prst="rect">
            <a:avLst/>
          </a:prstGeom>
        </p:spPr>
        <p:txBody>
          <a:bodyPr lIns="0" tIns="0" rIns="0" bIns="0" rtlCol="0" anchor="t">
            <a:spAutoFit/>
          </a:bodyPr>
          <a:lstStyle/>
          <a:p>
            <a:pPr algn="ctr">
              <a:lnSpc>
                <a:spcPts val="2742"/>
              </a:lnSpc>
            </a:pPr>
            <a:r>
              <a:rPr lang="en-US" sz="2046" b="1" spc="135">
                <a:solidFill>
                  <a:srgbClr val="FFFFFF"/>
                </a:solidFill>
                <a:latin typeface="Libre Franklin Bold"/>
                <a:ea typeface="Libre Franklin Bold"/>
                <a:cs typeface="Libre Franklin Bold"/>
                <a:sym typeface="Libre Franklin Bold"/>
              </a:rPr>
              <a:t>Defense and/or Commercial Market Use Case/Impact</a:t>
            </a:r>
          </a:p>
        </p:txBody>
      </p:sp>
      <p:sp>
        <p:nvSpPr>
          <p:cNvPr id="29" name="TextBox 29"/>
          <p:cNvSpPr txBox="1"/>
          <p:nvPr/>
        </p:nvSpPr>
        <p:spPr>
          <a:xfrm>
            <a:off x="9686528" y="7037959"/>
            <a:ext cx="5154820" cy="2099845"/>
          </a:xfrm>
          <a:prstGeom prst="rect">
            <a:avLst/>
          </a:prstGeom>
        </p:spPr>
        <p:txBody>
          <a:bodyPr lIns="0" tIns="0" rIns="0" bIns="0" rtlCol="0" anchor="t">
            <a:spAutoFit/>
          </a:bodyPr>
          <a:lstStyle/>
          <a:p>
            <a:pPr algn="l">
              <a:lnSpc>
                <a:spcPts val="1878"/>
              </a:lnSpc>
            </a:pPr>
            <a:r>
              <a:rPr lang="en-US" sz="1402" spc="92">
                <a:solidFill>
                  <a:srgbClr val="FFFFFF"/>
                </a:solidFill>
                <a:latin typeface="Libre Franklin"/>
                <a:ea typeface="Libre Franklin"/>
                <a:cs typeface="Libre Franklin"/>
                <a:sym typeface="Libre Franklin"/>
              </a:rPr>
              <a:t>Clearly demonstrate that your proposed project/solution has or will have an impact on the defense and/or commercial markets. Detail what application(s) or use cases you see your solution/project having in the defense and/or commercial space(s). This is your opportunity to identify the "so what" of the solution/project you are proposing.</a:t>
            </a:r>
          </a:p>
          <a:p>
            <a:pPr algn="l">
              <a:lnSpc>
                <a:spcPts val="1878"/>
              </a:lnSpc>
            </a:pPr>
            <a:endParaRPr lang="en-US" sz="1402" spc="92">
              <a:solidFill>
                <a:srgbClr val="FFFFFF"/>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300727"/>
            <a:chOff x="0" y="0"/>
            <a:chExt cx="4816593" cy="342578"/>
          </a:xfrm>
        </p:grpSpPr>
        <p:sp>
          <p:nvSpPr>
            <p:cNvPr id="3" name="Freeform 3"/>
            <p:cNvSpPr/>
            <p:nvPr/>
          </p:nvSpPr>
          <p:spPr>
            <a:xfrm>
              <a:off x="0" y="0"/>
              <a:ext cx="4816592" cy="342578"/>
            </a:xfrm>
            <a:custGeom>
              <a:avLst/>
              <a:gdLst/>
              <a:ahLst/>
              <a:cxnLst/>
              <a:rect l="l" t="t" r="r" b="b"/>
              <a:pathLst>
                <a:path w="4816592" h="342578">
                  <a:moveTo>
                    <a:pt x="0" y="0"/>
                  </a:moveTo>
                  <a:lnTo>
                    <a:pt x="4816592" y="0"/>
                  </a:lnTo>
                  <a:lnTo>
                    <a:pt x="4816592" y="342578"/>
                  </a:lnTo>
                  <a:lnTo>
                    <a:pt x="0" y="342578"/>
                  </a:lnTo>
                  <a:close/>
                </a:path>
              </a:pathLst>
            </a:custGeom>
            <a:gradFill rotWithShape="1">
              <a:gsLst>
                <a:gs pos="0">
                  <a:srgbClr val="00365D">
                    <a:alpha val="100000"/>
                  </a:srgbClr>
                </a:gs>
                <a:gs pos="100000">
                  <a:srgbClr val="001324">
                    <a:alpha val="100000"/>
                  </a:srgbClr>
                </a:gs>
              </a:gsLst>
              <a:lin ang="0"/>
            </a:gradFill>
          </p:spPr>
          <p:txBody>
            <a:bodyPr/>
            <a:lstStyle/>
            <a:p>
              <a:endParaRPr lang="en-US"/>
            </a:p>
          </p:txBody>
        </p:sp>
        <p:sp>
          <p:nvSpPr>
            <p:cNvPr id="4" name="TextBox 4"/>
            <p:cNvSpPr txBox="1"/>
            <p:nvPr/>
          </p:nvSpPr>
          <p:spPr>
            <a:xfrm>
              <a:off x="0" y="-38100"/>
              <a:ext cx="4816593" cy="380678"/>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9144000" y="1300727"/>
            <a:ext cx="0" cy="9516611"/>
          </a:xfrm>
          <a:prstGeom prst="line">
            <a:avLst/>
          </a:prstGeom>
          <a:ln w="38100" cap="flat">
            <a:solidFill>
              <a:srgbClr val="295D88"/>
            </a:solidFill>
            <a:prstDash val="solid"/>
            <a:headEnd type="none" w="sm" len="sm"/>
            <a:tailEnd type="none" w="sm" len="sm"/>
          </a:ln>
        </p:spPr>
        <p:txBody>
          <a:bodyPr/>
          <a:lstStyle/>
          <a:p>
            <a:endParaRPr lang="en-US"/>
          </a:p>
        </p:txBody>
      </p:sp>
      <p:grpSp>
        <p:nvGrpSpPr>
          <p:cNvPr id="6" name="Group 6"/>
          <p:cNvGrpSpPr/>
          <p:nvPr/>
        </p:nvGrpSpPr>
        <p:grpSpPr>
          <a:xfrm rot="5400000">
            <a:off x="6971456" y="2585663"/>
            <a:ext cx="4332962" cy="19228622"/>
            <a:chOff x="0" y="0"/>
            <a:chExt cx="879196" cy="3901658"/>
          </a:xfrm>
        </p:grpSpPr>
        <p:sp>
          <p:nvSpPr>
            <p:cNvPr id="7" name="Freeform 7"/>
            <p:cNvSpPr/>
            <p:nvPr/>
          </p:nvSpPr>
          <p:spPr>
            <a:xfrm>
              <a:off x="0" y="0"/>
              <a:ext cx="879196" cy="3901658"/>
            </a:xfrm>
            <a:custGeom>
              <a:avLst/>
              <a:gdLst/>
              <a:ahLst/>
              <a:cxnLst/>
              <a:rect l="l" t="t" r="r" b="b"/>
              <a:pathLst>
                <a:path w="879196" h="3901658">
                  <a:moveTo>
                    <a:pt x="0" y="0"/>
                  </a:moveTo>
                  <a:lnTo>
                    <a:pt x="879196" y="0"/>
                  </a:lnTo>
                  <a:lnTo>
                    <a:pt x="879196" y="3901658"/>
                  </a:lnTo>
                  <a:lnTo>
                    <a:pt x="0" y="3901658"/>
                  </a:lnTo>
                  <a:close/>
                </a:path>
              </a:pathLst>
            </a:custGeom>
            <a:solidFill>
              <a:srgbClr val="000000">
                <a:alpha val="0"/>
              </a:srgbClr>
            </a:solidFill>
            <a:ln w="12700">
              <a:solidFill>
                <a:srgbClr val="000000"/>
              </a:solidFill>
            </a:ln>
          </p:spPr>
          <p:txBody>
            <a:bodyPr/>
            <a:lstStyle/>
            <a:p>
              <a:endParaRPr lang="en-US"/>
            </a:p>
          </p:txBody>
        </p:sp>
      </p:grpSp>
      <p:sp>
        <p:nvSpPr>
          <p:cNvPr id="8" name="Freeform 8"/>
          <p:cNvSpPr/>
          <p:nvPr/>
        </p:nvSpPr>
        <p:spPr>
          <a:xfrm>
            <a:off x="1028700" y="3115177"/>
            <a:ext cx="7315200" cy="3995928"/>
          </a:xfrm>
          <a:custGeom>
            <a:avLst/>
            <a:gdLst/>
            <a:ahLst/>
            <a:cxnLst/>
            <a:rect l="l" t="t" r="r" b="b"/>
            <a:pathLst>
              <a:path w="7315200" h="3995928">
                <a:moveTo>
                  <a:pt x="0" y="0"/>
                </a:moveTo>
                <a:lnTo>
                  <a:pt x="7315200" y="0"/>
                </a:lnTo>
                <a:lnTo>
                  <a:pt x="7315200" y="3995928"/>
                </a:lnTo>
                <a:lnTo>
                  <a:pt x="0" y="39959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0851220" y="3124200"/>
            <a:ext cx="6408080" cy="4114800"/>
          </a:xfrm>
          <a:custGeom>
            <a:avLst/>
            <a:gdLst/>
            <a:ahLst/>
            <a:cxnLst/>
            <a:rect l="l" t="t" r="r" b="b"/>
            <a:pathLst>
              <a:path w="6408080" h="4114800">
                <a:moveTo>
                  <a:pt x="0" y="0"/>
                </a:moveTo>
                <a:lnTo>
                  <a:pt x="6408080" y="0"/>
                </a:lnTo>
                <a:lnTo>
                  <a:pt x="640808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460055" y="226254"/>
            <a:ext cx="13941745" cy="698589"/>
          </a:xfrm>
          <a:prstGeom prst="rect">
            <a:avLst/>
          </a:prstGeom>
        </p:spPr>
        <p:txBody>
          <a:bodyPr wrap="square" lIns="0" tIns="0" rIns="0" bIns="0" rtlCol="0" anchor="t">
            <a:spAutoFit/>
          </a:bodyPr>
          <a:lstStyle/>
          <a:p>
            <a:pPr algn="l">
              <a:lnSpc>
                <a:spcPts val="5875"/>
              </a:lnSpc>
            </a:pPr>
            <a:r>
              <a:rPr lang="en-US" sz="4197" b="1" spc="-167" dirty="0">
                <a:solidFill>
                  <a:srgbClr val="E05643"/>
                </a:solidFill>
                <a:latin typeface="Libre Franklin Bold"/>
                <a:ea typeface="Libre Franklin Bold"/>
                <a:cs typeface="Libre Franklin Bold"/>
                <a:sym typeface="Libre Franklin Bold"/>
              </a:rPr>
              <a:t>SOLUTION OVERVIEW &amp; DARPA WHITE SPACE CHART</a:t>
            </a:r>
          </a:p>
        </p:txBody>
      </p:sp>
      <p:sp>
        <p:nvSpPr>
          <p:cNvPr id="11" name="TextBox 11"/>
          <p:cNvSpPr txBox="1"/>
          <p:nvPr/>
        </p:nvSpPr>
        <p:spPr>
          <a:xfrm>
            <a:off x="0" y="1722117"/>
            <a:ext cx="9137937" cy="457222"/>
          </a:xfrm>
          <a:prstGeom prst="rect">
            <a:avLst/>
          </a:prstGeom>
        </p:spPr>
        <p:txBody>
          <a:bodyPr lIns="0" tIns="0" rIns="0" bIns="0" rtlCol="0" anchor="t">
            <a:spAutoFit/>
          </a:bodyPr>
          <a:lstStyle/>
          <a:p>
            <a:pPr algn="ctr">
              <a:lnSpc>
                <a:spcPts val="3568"/>
              </a:lnSpc>
            </a:pPr>
            <a:r>
              <a:rPr lang="en-US" sz="2973" b="1" spc="124">
                <a:solidFill>
                  <a:srgbClr val="295D88"/>
                </a:solidFill>
                <a:latin typeface="Aileron Bold"/>
                <a:ea typeface="Aileron Bold"/>
                <a:cs typeface="Aileron Bold"/>
                <a:sym typeface="Aileron Bold"/>
              </a:rPr>
              <a:t>WHAT ARE YOU DOING?</a:t>
            </a:r>
          </a:p>
        </p:txBody>
      </p:sp>
      <p:sp>
        <p:nvSpPr>
          <p:cNvPr id="12" name="TextBox 12"/>
          <p:cNvSpPr txBox="1"/>
          <p:nvPr/>
        </p:nvSpPr>
        <p:spPr>
          <a:xfrm>
            <a:off x="9150063" y="1722117"/>
            <a:ext cx="9137937" cy="457222"/>
          </a:xfrm>
          <a:prstGeom prst="rect">
            <a:avLst/>
          </a:prstGeom>
        </p:spPr>
        <p:txBody>
          <a:bodyPr lIns="0" tIns="0" rIns="0" bIns="0" rtlCol="0" anchor="t">
            <a:spAutoFit/>
          </a:bodyPr>
          <a:lstStyle/>
          <a:p>
            <a:pPr algn="ctr">
              <a:lnSpc>
                <a:spcPts val="3568"/>
              </a:lnSpc>
            </a:pPr>
            <a:r>
              <a:rPr lang="en-US" sz="2973" b="1" spc="124">
                <a:solidFill>
                  <a:srgbClr val="295D88"/>
                </a:solidFill>
                <a:latin typeface="Aileron Bold"/>
                <a:ea typeface="Aileron Bold"/>
                <a:cs typeface="Aileron Bold"/>
                <a:sym typeface="Aileron Bold"/>
              </a:rPr>
              <a:t>DARPA “WHITE SPACE” CHART</a:t>
            </a:r>
          </a:p>
        </p:txBody>
      </p:sp>
      <p:sp>
        <p:nvSpPr>
          <p:cNvPr id="13" name="TextBox 13"/>
          <p:cNvSpPr txBox="1"/>
          <p:nvPr/>
        </p:nvSpPr>
        <p:spPr>
          <a:xfrm>
            <a:off x="3390298" y="4808385"/>
            <a:ext cx="2592004" cy="304756"/>
          </a:xfrm>
          <a:prstGeom prst="rect">
            <a:avLst/>
          </a:prstGeom>
        </p:spPr>
        <p:txBody>
          <a:bodyPr lIns="0" tIns="0" rIns="0" bIns="0" rtlCol="0" anchor="t">
            <a:spAutoFit/>
          </a:bodyPr>
          <a:lstStyle/>
          <a:p>
            <a:pPr algn="ctr">
              <a:lnSpc>
                <a:spcPts val="2341"/>
              </a:lnSpc>
            </a:pPr>
            <a:r>
              <a:rPr lang="en-US" sz="1951" b="1" spc="128">
                <a:solidFill>
                  <a:srgbClr val="919191"/>
                </a:solidFill>
                <a:latin typeface="Libre Franklin Bold"/>
                <a:ea typeface="Libre Franklin Bold"/>
                <a:cs typeface="Libre Franklin Bold"/>
                <a:sym typeface="Libre Franklin Bold"/>
              </a:rPr>
              <a:t>Graphic</a:t>
            </a:r>
          </a:p>
        </p:txBody>
      </p:sp>
      <p:sp>
        <p:nvSpPr>
          <p:cNvPr id="14" name="TextBox 14"/>
          <p:cNvSpPr txBox="1"/>
          <p:nvPr/>
        </p:nvSpPr>
        <p:spPr>
          <a:xfrm>
            <a:off x="3272966" y="7463530"/>
            <a:ext cx="2592004" cy="599987"/>
          </a:xfrm>
          <a:prstGeom prst="rect">
            <a:avLst/>
          </a:prstGeom>
        </p:spPr>
        <p:txBody>
          <a:bodyPr lIns="0" tIns="0" rIns="0" bIns="0" rtlCol="0" anchor="t">
            <a:spAutoFit/>
          </a:bodyPr>
          <a:lstStyle/>
          <a:p>
            <a:pPr algn="ctr">
              <a:lnSpc>
                <a:spcPts val="2341"/>
              </a:lnSpc>
            </a:pPr>
            <a:r>
              <a:rPr lang="en-US" sz="1951" b="1" spc="128">
                <a:solidFill>
                  <a:srgbClr val="000000"/>
                </a:solidFill>
                <a:latin typeface="Libre Franklin Bold"/>
                <a:ea typeface="Libre Franklin Bold"/>
                <a:cs typeface="Libre Franklin Bold"/>
                <a:sym typeface="Libre Franklin Bold"/>
              </a:rPr>
              <a:t>[Description]</a:t>
            </a:r>
          </a:p>
          <a:p>
            <a:pPr algn="ctr">
              <a:lnSpc>
                <a:spcPts val="2341"/>
              </a:lnSpc>
            </a:pPr>
            <a:r>
              <a:rPr lang="en-US" sz="1951" b="1" spc="128">
                <a:solidFill>
                  <a:srgbClr val="000000"/>
                </a:solidFill>
                <a:latin typeface="Libre Franklin Bold"/>
                <a:ea typeface="Libre Franklin Bold"/>
                <a:cs typeface="Libre Franklin Bold"/>
                <a:sym typeface="Libre Franklin Bold"/>
              </a:rPr>
              <a:t>(2-4 sentences)</a:t>
            </a:r>
          </a:p>
        </p:txBody>
      </p:sp>
      <p:sp>
        <p:nvSpPr>
          <p:cNvPr id="15" name="TextBox 15"/>
          <p:cNvSpPr txBox="1"/>
          <p:nvPr/>
        </p:nvSpPr>
        <p:spPr>
          <a:xfrm>
            <a:off x="11569009" y="2658021"/>
            <a:ext cx="4972501" cy="304756"/>
          </a:xfrm>
          <a:prstGeom prst="rect">
            <a:avLst/>
          </a:prstGeom>
        </p:spPr>
        <p:txBody>
          <a:bodyPr lIns="0" tIns="0" rIns="0" bIns="0" rtlCol="0" anchor="t">
            <a:spAutoFit/>
          </a:bodyPr>
          <a:lstStyle/>
          <a:p>
            <a:pPr algn="ctr">
              <a:lnSpc>
                <a:spcPts val="2341"/>
              </a:lnSpc>
            </a:pPr>
            <a:r>
              <a:rPr lang="en-US" sz="1951" b="1" spc="128">
                <a:solidFill>
                  <a:srgbClr val="919191"/>
                </a:solidFill>
                <a:latin typeface="Libre Franklin Bold"/>
                <a:ea typeface="Libre Franklin Bold"/>
                <a:cs typeface="Libre Franklin Bold"/>
                <a:sym typeface="Libre Franklin Bold"/>
              </a:rPr>
              <a:t>Notional Example (make your own)</a:t>
            </a:r>
          </a:p>
        </p:txBody>
      </p:sp>
      <p:sp>
        <p:nvSpPr>
          <p:cNvPr id="16" name="TextBox 16"/>
          <p:cNvSpPr txBox="1"/>
          <p:nvPr/>
        </p:nvSpPr>
        <p:spPr>
          <a:xfrm>
            <a:off x="9888096" y="7611146"/>
            <a:ext cx="8334328" cy="304756"/>
          </a:xfrm>
          <a:prstGeom prst="rect">
            <a:avLst/>
          </a:prstGeom>
        </p:spPr>
        <p:txBody>
          <a:bodyPr lIns="0" tIns="0" rIns="0" bIns="0" rtlCol="0" anchor="t">
            <a:spAutoFit/>
          </a:bodyPr>
          <a:lstStyle/>
          <a:p>
            <a:pPr algn="ctr">
              <a:lnSpc>
                <a:spcPts val="2341"/>
              </a:lnSpc>
            </a:pPr>
            <a:r>
              <a:rPr lang="en-US" sz="1951" b="1" spc="128">
                <a:solidFill>
                  <a:srgbClr val="000000"/>
                </a:solidFill>
                <a:latin typeface="Libre Franklin Bold"/>
                <a:ea typeface="Libre Franklin Bold"/>
                <a:cs typeface="Libre Franklin Bold"/>
                <a:sym typeface="Libre Franklin Bold"/>
              </a:rPr>
              <a:t>[Comments: discuss comparison to state of the art]</a:t>
            </a:r>
          </a:p>
        </p:txBody>
      </p:sp>
      <p:grpSp>
        <p:nvGrpSpPr>
          <p:cNvPr id="17" name="Group 17"/>
          <p:cNvGrpSpPr/>
          <p:nvPr/>
        </p:nvGrpSpPr>
        <p:grpSpPr>
          <a:xfrm rot="5400000">
            <a:off x="9017246" y="1016246"/>
            <a:ext cx="253507" cy="18288000"/>
            <a:chOff x="0" y="0"/>
            <a:chExt cx="51439" cy="3710798"/>
          </a:xfrm>
        </p:grpSpPr>
        <p:sp>
          <p:nvSpPr>
            <p:cNvPr id="18" name="Freeform 18"/>
            <p:cNvSpPr/>
            <p:nvPr/>
          </p:nvSpPr>
          <p:spPr>
            <a:xfrm>
              <a:off x="0" y="0"/>
              <a:ext cx="51439" cy="3710798"/>
            </a:xfrm>
            <a:custGeom>
              <a:avLst/>
              <a:gdLst/>
              <a:ahLst/>
              <a:cxnLst/>
              <a:rect l="l" t="t" r="r" b="b"/>
              <a:pathLst>
                <a:path w="51439" h="3710798">
                  <a:moveTo>
                    <a:pt x="0" y="0"/>
                  </a:moveTo>
                  <a:lnTo>
                    <a:pt x="51439" y="0"/>
                  </a:lnTo>
                  <a:lnTo>
                    <a:pt x="51439" y="3710798"/>
                  </a:lnTo>
                  <a:lnTo>
                    <a:pt x="0" y="3710798"/>
                  </a:lnTo>
                  <a:close/>
                </a:path>
              </a:pathLst>
            </a:custGeom>
            <a:blipFill>
              <a:blip r:embed="rId6"/>
              <a:stretch>
                <a:fillRect l="-6908733" r="-7419256"/>
              </a:stretch>
            </a:blip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376</Words>
  <Application>Microsoft Office PowerPoint</Application>
  <PresentationFormat>Custom</PresentationFormat>
  <Paragraphs>27</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Libre Franklin Bold</vt:lpstr>
      <vt:lpstr>Aileron Bold</vt:lpstr>
      <vt:lpstr>Libre Franklin</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Eris Submissions template</dc:title>
  <dc:creator>Kevin Kostka</dc:creator>
  <cp:lastModifiedBy>Kevin Kostka</cp:lastModifiedBy>
  <cp:revision>2</cp:revision>
  <dcterms:created xsi:type="dcterms:W3CDTF">2006-08-16T00:00:00Z</dcterms:created>
  <dcterms:modified xsi:type="dcterms:W3CDTF">2025-01-27T21:12:58Z</dcterms:modified>
  <dc:identifier>DAGXsJfqzw4</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6138201-89eb-41f1-b379-b31756535eb4_Enabled">
    <vt:lpwstr>true</vt:lpwstr>
  </property>
  <property fmtid="{D5CDD505-2E9C-101B-9397-08002B2CF9AE}" pid="3" name="MSIP_Label_66138201-89eb-41f1-b379-b31756535eb4_SetDate">
    <vt:lpwstr>2025-01-27T21:12:51Z</vt:lpwstr>
  </property>
  <property fmtid="{D5CDD505-2E9C-101B-9397-08002B2CF9AE}" pid="4" name="MSIP_Label_66138201-89eb-41f1-b379-b31756535eb4_Method">
    <vt:lpwstr>Standard</vt:lpwstr>
  </property>
  <property fmtid="{D5CDD505-2E9C-101B-9397-08002B2CF9AE}" pid="5" name="MSIP_Label_66138201-89eb-41f1-b379-b31756535eb4_Name">
    <vt:lpwstr>General</vt:lpwstr>
  </property>
  <property fmtid="{D5CDD505-2E9C-101B-9397-08002B2CF9AE}" pid="6" name="MSIP_Label_66138201-89eb-41f1-b379-b31756535eb4_SiteId">
    <vt:lpwstr>8e7e0ae3-80a0-4042-af07-ef01ddfe7900</vt:lpwstr>
  </property>
  <property fmtid="{D5CDD505-2E9C-101B-9397-08002B2CF9AE}" pid="7" name="MSIP_Label_66138201-89eb-41f1-b379-b31756535eb4_ActionId">
    <vt:lpwstr>3ee110cd-493d-4963-ade5-4ef8219debea</vt:lpwstr>
  </property>
  <property fmtid="{D5CDD505-2E9C-101B-9397-08002B2CF9AE}" pid="8" name="MSIP_Label_66138201-89eb-41f1-b379-b31756535eb4_ContentBits">
    <vt:lpwstr>0</vt:lpwstr>
  </property>
  <property fmtid="{D5CDD505-2E9C-101B-9397-08002B2CF9AE}" pid="9" name="MSIP_Label_66138201-89eb-41f1-b379-b31756535eb4_Tag">
    <vt:lpwstr>10, 3, 0, 1</vt:lpwstr>
  </property>
</Properties>
</file>